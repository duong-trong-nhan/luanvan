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Geist" panose="020B0604020202020204" charset="0"/>
      <p:regular r:id="rId16"/>
    </p:embeddedFont>
    <p:embeddedFont>
      <p:font typeface="Geist Bold" panose="020B0604020202020204" charset="0"/>
      <p:regular r:id="rId17"/>
    </p:embeddedFont>
    <p:embeddedFont>
      <p:font typeface="Geist Light" panose="020B0604020202020204" charset="0"/>
      <p:regular r:id="rId18"/>
    </p:embeddedFont>
    <p:embeddedFont>
      <p:font typeface="Noto Sans" panose="020B0502040204020203" pitchFamily="3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490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HerittageFNS: an interpretable fuzzy neuro-symbolic framework designed specifically for traditional Vietnamese music genre classification. Highlight the full pipeline from raw acoustic signals to human-auditable IF-THEN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dataset preparation protocol: 1,800 raw songs spanning 6 traditional genres split systematically into 3,600 uniform 12-second clips at 22.05 kHz mono.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combinatorial bottleneck: fuzzy rules over 167 dimensions explode combinatorially and destroy interpretability. 30 core features retain accuracy comparable to black-box models on all 167 and 100% human interpretability.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7 axes. Explain how 30 acoustic descriptors map directly to 27 linguistic fuzzy sets, providing an intuitive ethnomusicological profile shown on the radar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mathematical rigor of Fuzzy C-Means (m=2.0) generating smooth Ruspini partitions, and explain the 4 selection criteria used to choose representative features for each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crisp argmax quantization against continuous fuzzy representations. Continuous memberships preserve vital borderline information that traditional discretization discards.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benchmark results: Continuous fuzzy features boost Random Forest from 55.97% to 64.17% (+8.20% gain), with high precision (&gt;80%) on key traditional genres.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tree ensembles transform into human-verifiable DNF rules. Point out that the extracted rules align directly with established ethnomusicological descriptions of vocal ornamentation and instrumental backing.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the holdout verification: 18 completely independent songs validate that the learned rules reflect authentic genre invariants rather than memorized dataset quirks.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B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1480443"/>
            <a:ext cx="322056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0" spc="66" dirty="0">
                <a:solidFill>
                  <a:srgbClr val="A9AEC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NEURO-SYMBOLIC MIR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1748334"/>
            <a:ext cx="2864969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0" spc="-51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HerittageFNS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86" y="2401094"/>
            <a:ext cx="2864969" cy="854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Interpretable Fuzzy Neuro-Symbolic Audio Classification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58786" y="3444875"/>
            <a:ext cx="945333" cy="31651"/>
          </a:xfrm>
          <a:prstGeom prst="roundRect">
            <a:avLst>
              <a:gd name="adj" fmla="val 49998"/>
            </a:avLst>
          </a:prstGeom>
          <a:solidFill>
            <a:srgbClr val="454B68"/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3700463"/>
            <a:ext cx="2864969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End-to-end pipeline bridging traditional Vietnamese musical heritage to interpretable, rule-based symbolic knowledge.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8786" y="4983163"/>
            <a:ext cx="2864969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23" dirty="0">
                <a:solidFill>
                  <a:srgbClr val="8A90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Audio Signal Processing · Fuzzy C-Means · Symbolic Decision Trees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779346" y="0"/>
            <a:ext cx="8412349" cy="6858000"/>
          </a:xfrm>
          <a:prstGeom prst="rect">
            <a:avLst/>
          </a:prstGeom>
          <a:solidFill>
            <a:srgbClr val="151829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346" y="868362"/>
            <a:ext cx="8292893" cy="557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57200"/>
            <a:ext cx="424675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0" spc="66" dirty="0">
                <a:solidFill>
                  <a:srgbClr val="A9AEC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CORPUS STANDARDIZATION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725091"/>
            <a:ext cx="3941962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0" spc="-45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1,800 recordings become 3,600 balanced, standardized samples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7987" y="2644378"/>
            <a:ext cx="985317" cy="31651"/>
          </a:xfrm>
          <a:prstGeom prst="roundRect">
            <a:avLst>
              <a:gd name="adj" fmla="val 49998"/>
            </a:avLst>
          </a:prstGeom>
          <a:solidFill>
            <a:srgbClr val="454B68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3077766"/>
            <a:ext cx="3941962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Source: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Curated Vietnamese traditional audio corpus from Hugging Face Hub.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87" y="3911997"/>
            <a:ext cx="3941962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Genres: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6 genres: Ca trù, Chèo, Chầu văn, Cải lương, Hát xẩm, Quan họ.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87" y="4746228"/>
            <a:ext cx="3941962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Sampling: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1,800 raw recordings, 300 per genre; two 12-second non-overlapping segments per song: 3,600 samples, 600 per genre.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87" y="5819775"/>
            <a:ext cx="3941962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Format: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Resampled to 22,050 Hz, mono, 16-bit PCM WAV.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741" y="0"/>
            <a:ext cx="7436954" cy="6933406"/>
          </a:xfrm>
          <a:prstGeom prst="rect">
            <a:avLst/>
          </a:prstGeom>
          <a:solidFill>
            <a:srgbClr val="151829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r="1051" b="2098"/>
          <a:stretch>
            <a:fillRect/>
          </a:stretch>
        </p:blipFill>
        <p:spPr>
          <a:xfrm>
            <a:off x="4864628" y="1763127"/>
            <a:ext cx="7244552" cy="333174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7987" y="3727847"/>
            <a:ext cx="3941962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2" name="Shape 9"/>
          <p:cNvSpPr/>
          <p:nvPr/>
        </p:nvSpPr>
        <p:spPr>
          <a:xfrm>
            <a:off x="507987" y="4562078"/>
            <a:ext cx="3941962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3" name="Shape 10"/>
          <p:cNvSpPr/>
          <p:nvPr/>
        </p:nvSpPr>
        <p:spPr>
          <a:xfrm>
            <a:off x="507987" y="5635625"/>
            <a:ext cx="3941962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4" name="Text 11"/>
          <p:cNvSpPr/>
          <p:nvPr/>
        </p:nvSpPr>
        <p:spPr>
          <a:xfrm>
            <a:off x="11418800" y="6456561"/>
            <a:ext cx="77289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0" spc="42" dirty="0">
                <a:solidFill>
                  <a:srgbClr val="C9CCD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11632909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0" spc="66" dirty="0">
                <a:solidFill>
                  <a:srgbClr val="A9AEC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DIMENSIONALITY REDUCTION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25091"/>
            <a:ext cx="11074123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0" spc="-45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167 physical features reduce to 30 semantic 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58786" y="1341041"/>
            <a:ext cx="1163290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8A90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Fuzzy rules over 167 dimensions explode combinatorially and destroy interpretability.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58786" y="1715988"/>
            <a:ext cx="4988098" cy="4684812"/>
          </a:xfrm>
          <a:prstGeom prst="roundRect">
            <a:avLst>
              <a:gd name="adj" fmla="val 244"/>
            </a:avLst>
          </a:prstGeom>
          <a:solidFill>
            <a:srgbClr val="1B1D2A"/>
          </a:solidFill>
          <a:ln/>
        </p:spPr>
      </p:sp>
      <p:sp>
        <p:nvSpPr>
          <p:cNvPr id="6" name="Text 4"/>
          <p:cNvSpPr/>
          <p:nvPr/>
        </p:nvSpPr>
        <p:spPr>
          <a:xfrm>
            <a:off x="761981" y="1919188"/>
            <a:ext cx="478490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0" spc="66" dirty="0">
                <a:solidFill>
                  <a:srgbClr val="8A90A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INPUT ACOUSTIC SPACE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1981" y="2187079"/>
            <a:ext cx="4581708" cy="469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167 </a:t>
            </a:r>
            <a:r>
              <a:rPr lang="en-US" sz="1400" dirty="0">
                <a:solidFill>
                  <a:srgbClr val="8A90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Librosa Features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61981" y="2799259"/>
            <a:ext cx="478490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167 Librosa features across 9 domains: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1981" y="3152874"/>
            <a:ext cx="4581708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F0/Pitch (5) · Rhythm &amp; Tempo (3) · Vibrato (2)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1981" y="3849390"/>
            <a:ext cx="4581708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RMS Energy (4) · MFCC &amp; Deltas (106)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1981" y="4545905"/>
            <a:ext cx="4581708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Chroma (25) · Spectral &amp; ZCR (15)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1981" y="5242421"/>
            <a:ext cx="4581708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Tonnetz (6) · Mel Energy (2)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1981" y="5596037"/>
            <a:ext cx="458170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Plus 5 metadata columns (sample_idx, label, audio_path, segment_id, segment_time) = 172 DataFrame columns.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30692" y="1715988"/>
            <a:ext cx="5302217" cy="4684812"/>
          </a:xfrm>
          <a:prstGeom prst="roundRect">
            <a:avLst>
              <a:gd name="adj" fmla="val 244"/>
            </a:avLst>
          </a:prstGeom>
          <a:solidFill>
            <a:srgbClr val="151829"/>
          </a:solidFill>
          <a:ln/>
        </p:spPr>
      </p:sp>
      <p:sp>
        <p:nvSpPr>
          <p:cNvPr id="15" name="Text 13"/>
          <p:cNvSpPr/>
          <p:nvPr/>
        </p:nvSpPr>
        <p:spPr>
          <a:xfrm>
            <a:off x="6533887" y="1919188"/>
            <a:ext cx="509902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0" spc="66" dirty="0">
                <a:solidFill>
                  <a:srgbClr val="00E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SEMANTIC DISTILLATION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3887" y="2187079"/>
            <a:ext cx="4895827" cy="469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30 </a:t>
            </a:r>
            <a:r>
              <a:rPr lang="en-US" sz="1400" dirty="0">
                <a:solidFill>
                  <a:srgbClr val="00E5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Core Features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533887" y="2799259"/>
            <a:ext cx="4895827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Solution: 30 core features, with accuracy comparable to black-box models on all 167 and 100% human interpretability.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3887" y="6000452"/>
            <a:ext cx="5099022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C9CCD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 semantic features preserve interpretability.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1981" y="3614440"/>
            <a:ext cx="4581708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20" name="Shape 18"/>
          <p:cNvSpPr/>
          <p:nvPr/>
        </p:nvSpPr>
        <p:spPr>
          <a:xfrm>
            <a:off x="761981" y="4310955"/>
            <a:ext cx="4581708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981" y="5007471"/>
            <a:ext cx="4581708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22" name="Text 20"/>
          <p:cNvSpPr/>
          <p:nvPr/>
        </p:nvSpPr>
        <p:spPr>
          <a:xfrm>
            <a:off x="11418800" y="6456561"/>
            <a:ext cx="77289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0" spc="42" dirty="0">
                <a:solidFill>
                  <a:srgbClr val="C9CCD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0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F22307A-ACB9-213F-3EE5-5AA523611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536" y="6515070"/>
            <a:ext cx="1191464" cy="3429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57200"/>
            <a:ext cx="11683708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0" spc="66" dirty="0">
                <a:solidFill>
                  <a:srgbClr val="A9AEC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KNOWLEDGE MODELING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725091"/>
            <a:ext cx="1117572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0" spc="-45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30 features form 7 musicological axes and 27 fuzzy sets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7987" y="1387078"/>
            <a:ext cx="2793831" cy="31651"/>
          </a:xfrm>
          <a:prstGeom prst="roundRect">
            <a:avLst>
              <a:gd name="adj" fmla="val 49998"/>
            </a:avLst>
          </a:prstGeom>
          <a:solidFill>
            <a:srgbClr val="454B68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1642666"/>
            <a:ext cx="434845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Energy (5 levels):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energy_mean, dynamic_range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87" y="2339181"/>
            <a:ext cx="434845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Harmony (3):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7 chroma means, C to 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87" y="3035697"/>
            <a:ext cx="434845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Pitch (5):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pitch_mean, pitch_range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87" y="3732213"/>
            <a:ext cx="434845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Spectral (3):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centroid, bandwidth, rolloff means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87" y="4428728"/>
            <a:ext cx="434845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Tempo (3):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tempo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987" y="5125244"/>
            <a:ext cx="434845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Timbre (5):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mfcc_01 to mfcc_13 means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987" y="5821759"/>
            <a:ext cx="434845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Vibrato (3):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vibrato_extent, vibrato_energy</a:t>
            </a:r>
            <a:endParaRPr lang="en-US" sz="13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518" y="1562818"/>
            <a:ext cx="6967013" cy="447285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07987" y="2104231"/>
            <a:ext cx="4348451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4" name="Shape 11"/>
          <p:cNvSpPr/>
          <p:nvPr/>
        </p:nvSpPr>
        <p:spPr>
          <a:xfrm>
            <a:off x="507987" y="2800747"/>
            <a:ext cx="4348451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5" name="Shape 12"/>
          <p:cNvSpPr/>
          <p:nvPr/>
        </p:nvSpPr>
        <p:spPr>
          <a:xfrm>
            <a:off x="507987" y="3497263"/>
            <a:ext cx="4348451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6" name="Shape 13"/>
          <p:cNvSpPr/>
          <p:nvPr/>
        </p:nvSpPr>
        <p:spPr>
          <a:xfrm>
            <a:off x="507987" y="4193778"/>
            <a:ext cx="4348451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7" name="Shape 14"/>
          <p:cNvSpPr/>
          <p:nvPr/>
        </p:nvSpPr>
        <p:spPr>
          <a:xfrm>
            <a:off x="507987" y="4890294"/>
            <a:ext cx="4348451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8" name="Shape 15"/>
          <p:cNvSpPr/>
          <p:nvPr/>
        </p:nvSpPr>
        <p:spPr>
          <a:xfrm>
            <a:off x="507987" y="5586809"/>
            <a:ext cx="4348451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9" name="Text 16"/>
          <p:cNvSpPr/>
          <p:nvPr/>
        </p:nvSpPr>
        <p:spPr>
          <a:xfrm>
            <a:off x="11418800" y="6456561"/>
            <a:ext cx="77289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0" spc="42" dirty="0">
                <a:solidFill>
                  <a:srgbClr val="C9CCD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4FB6E21-2FBA-FFB7-0C79-E69152228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215" y="6461449"/>
            <a:ext cx="1283479" cy="3429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874713"/>
            <a:ext cx="5750376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0" spc="66" dirty="0">
                <a:solidFill>
                  <a:srgbClr val="A9AEC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FUZZY PARTITIONING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1142603"/>
            <a:ext cx="5445584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0" spc="-45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Fuzzy C-Means builds the membership functions; four criteria pick each axis's representative feature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7987" y="3061891"/>
            <a:ext cx="1361247" cy="31651"/>
          </a:xfrm>
          <a:prstGeom prst="roundRect">
            <a:avLst>
              <a:gd name="adj" fmla="val 49998"/>
            </a:avLst>
          </a:prstGeom>
          <a:solidFill>
            <a:srgbClr val="454B68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3317478"/>
            <a:ext cx="5445584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FCM with fuzzifier </a:t>
            </a: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 = 2.0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forms Ruspini partitions (</a:t>
            </a:r>
            <a:r>
              <a:rPr lang="en-US" sz="1250" i="1" dirty="0">
                <a:solidFill>
                  <a:srgbClr val="C9CC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) per axis. Four rigorous criteria isolate the optimal scalar feature per axis: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244" y="3342878"/>
            <a:ext cx="762477" cy="2062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7987" y="4075509"/>
            <a:ext cx="5445584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1.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Direct semantic definition of the axis.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7987" y="4518025"/>
            <a:ext cx="5445584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2.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Strictly increasing mean across fuzzy levels.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7987" y="4960541"/>
            <a:ext cx="5445584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3.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Highest between/within-cluster variance ratio (ANOVA F, Fisher).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7987" y="5403056"/>
            <a:ext cx="5445584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4.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Multi-dimensional axes: mfcc_01_mean for Timbre, mean pitch-class energy for Harmony.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58364" y="0"/>
            <a:ext cx="5933331" cy="6858000"/>
          </a:xfrm>
          <a:prstGeom prst="rect">
            <a:avLst/>
          </a:prstGeom>
          <a:solidFill>
            <a:srgbClr val="15182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559" y="222250"/>
            <a:ext cx="5067173" cy="64135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7987" y="4410075"/>
            <a:ext cx="5445584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4" name="Shape 10"/>
          <p:cNvSpPr/>
          <p:nvPr/>
        </p:nvSpPr>
        <p:spPr>
          <a:xfrm>
            <a:off x="507987" y="4852591"/>
            <a:ext cx="5445584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5" name="Shape 11"/>
          <p:cNvSpPr/>
          <p:nvPr/>
        </p:nvSpPr>
        <p:spPr>
          <a:xfrm>
            <a:off x="507987" y="5295106"/>
            <a:ext cx="5445584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6" name="Text 12"/>
          <p:cNvSpPr/>
          <p:nvPr/>
        </p:nvSpPr>
        <p:spPr>
          <a:xfrm>
            <a:off x="11418800" y="6456561"/>
            <a:ext cx="77289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0" spc="42" dirty="0">
                <a:solidFill>
                  <a:srgbClr val="C9CCD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57200"/>
            <a:ext cx="4165496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0" spc="66" dirty="0">
                <a:solidFill>
                  <a:srgbClr val="A9AEC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REPRESENTATION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725091"/>
            <a:ext cx="3860703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0" spc="-45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Two new fuzzy datasets preserve gradient information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7987" y="2225278"/>
            <a:ext cx="965077" cy="31651"/>
          </a:xfrm>
          <a:prstGeom prst="roundRect">
            <a:avLst>
              <a:gd name="adj" fmla="val 49998"/>
            </a:avLst>
          </a:prstGeom>
          <a:solidFill>
            <a:srgbClr val="454B68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2607866"/>
            <a:ext cx="3860703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Crisp Linguistic Dataset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7987" y="3035697"/>
            <a:ext cx="3860703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3,600 × 9 columns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Categorical axes assigned via </a:t>
            </a:r>
            <a:r>
              <a:rPr lang="en-US" sz="1250" i="1" dirty="0">
                <a:solidFill>
                  <a:srgbClr val="C9CC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(e.g. Tempo = Moderate). Discards boundary uncertainty.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3300413"/>
            <a:ext cx="724874" cy="2062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7987" y="4007644"/>
            <a:ext cx="3860703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Continuous Membership Dataset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07987" y="4435475"/>
            <a:ext cx="3860703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3,600 × 29 columns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Retains all 27 continuous fuzzy membership degrees in </a:t>
            </a:r>
            <a:r>
              <a:rPr lang="en-US" sz="1250" i="1" dirty="0">
                <a:solidFill>
                  <a:srgbClr val="C9CC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6964" y="4700191"/>
            <a:ext cx="322751" cy="1935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7987" y="5168106"/>
            <a:ext cx="3860703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Gradient Preservation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07987" y="5595938"/>
            <a:ext cx="3860703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Continuous memberships eliminate artificial boundary bifurcations, capturing nuanced micro-variations across traditional singing styles.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673483" y="0"/>
            <a:ext cx="7518212" cy="6898084"/>
          </a:xfrm>
          <a:prstGeom prst="rect">
            <a:avLst/>
          </a:prstGeom>
          <a:solidFill>
            <a:srgbClr val="151829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678" y="1397992"/>
            <a:ext cx="7111822" cy="41021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07987" y="3874294"/>
            <a:ext cx="3860703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6" name="Shape 11"/>
          <p:cNvSpPr/>
          <p:nvPr/>
        </p:nvSpPr>
        <p:spPr>
          <a:xfrm>
            <a:off x="507987" y="5034756"/>
            <a:ext cx="3860703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7" name="Text 12"/>
          <p:cNvSpPr/>
          <p:nvPr/>
        </p:nvSpPr>
        <p:spPr>
          <a:xfrm>
            <a:off x="11418800" y="6456561"/>
            <a:ext cx="77289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0" spc="42" dirty="0">
                <a:solidFill>
                  <a:srgbClr val="C9CCD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210939"/>
            <a:ext cx="4551546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0" spc="66" dirty="0">
                <a:solidFill>
                  <a:srgbClr val="A9AEC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EXPERIMENTAL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478830"/>
            <a:ext cx="4246754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0" spc="-45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Continuous fuzzy memberships lift Random Forest to 64.17% accuracy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7987" y="2398117"/>
            <a:ext cx="1061515" cy="31651"/>
          </a:xfrm>
          <a:prstGeom prst="roundRect">
            <a:avLst>
              <a:gd name="adj" fmla="val 49998"/>
            </a:avLst>
          </a:prstGeom>
          <a:solidFill>
            <a:srgbClr val="454B68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2653705"/>
            <a:ext cx="4246754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DT and RF (50 trees), max_depth = 5, min_samples_leaf = 10; 80/20 stratified split, 720 test samples.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87" y="3487936"/>
            <a:ext cx="4246754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Decision Tree: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crisp: 51.25% acc, 50.58% F1; continuous: 56.53% acc, 56.06% F1.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87" y="4322167"/>
            <a:ext cx="4246754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Random Forest: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crisp: 55.97% acc, 55.04% F1; continuous: 64.17% acc, 63.71% F1.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87" y="5156398"/>
            <a:ext cx="4246754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Continuous over crisp: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+8.20% for RF; </a:t>
            </a: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RF over DT: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+7.64%.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87" y="5990630"/>
            <a:ext cx="4246754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Genre Precision: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Precision above 80% on Ca trù, Quan họ, Cải lương.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59534" y="0"/>
            <a:ext cx="7132161" cy="6858000"/>
          </a:xfrm>
          <a:prstGeom prst="rect">
            <a:avLst/>
          </a:prstGeom>
          <a:solidFill>
            <a:srgbClr val="151829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r="1229"/>
          <a:stretch>
            <a:fillRect/>
          </a:stretch>
        </p:blipFill>
        <p:spPr>
          <a:xfrm>
            <a:off x="5079157" y="1906093"/>
            <a:ext cx="7112538" cy="304581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07987" y="4138017"/>
            <a:ext cx="4246754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3" name="Shape 10"/>
          <p:cNvSpPr/>
          <p:nvPr/>
        </p:nvSpPr>
        <p:spPr>
          <a:xfrm>
            <a:off x="507987" y="4972248"/>
            <a:ext cx="4246754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4" name="Shape 11"/>
          <p:cNvSpPr/>
          <p:nvPr/>
        </p:nvSpPr>
        <p:spPr>
          <a:xfrm>
            <a:off x="507987" y="5806480"/>
            <a:ext cx="4246754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5" name="Text 12"/>
          <p:cNvSpPr/>
          <p:nvPr/>
        </p:nvSpPr>
        <p:spPr>
          <a:xfrm>
            <a:off x="11418800" y="6456561"/>
            <a:ext cx="77289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0" spc="42" dirty="0">
                <a:solidFill>
                  <a:srgbClr val="C9CCD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57200"/>
            <a:ext cx="463280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0" spc="66" dirty="0">
                <a:solidFill>
                  <a:srgbClr val="A9AEC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SYMBOLIC RULE EXTRACTION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725091"/>
            <a:ext cx="4328012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0" spc="-45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All 50 trees convert into pruned IF-THEN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7987" y="1806178"/>
            <a:ext cx="1081953" cy="31651"/>
          </a:xfrm>
          <a:prstGeom prst="roundRect">
            <a:avLst>
              <a:gd name="adj" fmla="val 49998"/>
            </a:avLst>
          </a:prstGeom>
          <a:solidFill>
            <a:srgbClr val="454B68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2061766"/>
            <a:ext cx="4328012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root-to-leaf path becomes a DNF rule: IF conditions THEN Genre [Confidence, Support, Frequency]. Pruning: confidence at least 50%, support at least 10 samples, tree voting frequency (e.g. 3/50).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87" y="3374628"/>
            <a:ext cx="4328012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 trù (Conf 75.0%, Supp 260):</a:t>
            </a:r>
            <a:endParaRPr lang="en-US" sz="13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IF Energy Very Weak AND Vibrato Moderate/Heavy AND Timbre Very Low/Low THEN Ca trù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87" y="4448175"/>
            <a:ext cx="4328012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Quan họ (Conf 84.0%, Supp 327):</a:t>
            </a:r>
            <a:endParaRPr lang="en-US" sz="13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IF Tempo Moderate AND Energy Strong/Very Strong AND Timbre High/Very High THEN Quan họ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87" y="5521722"/>
            <a:ext cx="4328012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Cải lương (Conf 78.4%, Supp 218):</a:t>
            </a:r>
            <a:endParaRPr lang="en-US" sz="13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IF Vibrato Heavy Ornament AND Timbre High/Very High AND Harmony High THEN Cải lương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40792" y="0"/>
            <a:ext cx="7050903" cy="6874669"/>
          </a:xfrm>
          <a:prstGeom prst="rect">
            <a:avLst/>
          </a:prstGeom>
          <a:solidFill>
            <a:srgbClr val="151829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5577"/>
          <a:stretch>
            <a:fillRect/>
          </a:stretch>
        </p:blipFill>
        <p:spPr>
          <a:xfrm>
            <a:off x="5140792" y="1775515"/>
            <a:ext cx="7129843" cy="330697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7987" y="4264025"/>
            <a:ext cx="4328012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2" name="Shape 9"/>
          <p:cNvSpPr/>
          <p:nvPr/>
        </p:nvSpPr>
        <p:spPr>
          <a:xfrm>
            <a:off x="507987" y="5337572"/>
            <a:ext cx="4328012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3" name="Text 10"/>
          <p:cNvSpPr/>
          <p:nvPr/>
        </p:nvSpPr>
        <p:spPr>
          <a:xfrm>
            <a:off x="11418800" y="6456561"/>
            <a:ext cx="77289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0" spc="42" dirty="0">
                <a:solidFill>
                  <a:srgbClr val="C9CCD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237331"/>
            <a:ext cx="465314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0" spc="66" dirty="0">
                <a:solidFill>
                  <a:srgbClr val="A9AEC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OUT-OF-SAMPLE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505222"/>
            <a:ext cx="4348351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0" spc="-45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18 unseen recordings confirm invariant genre archetypes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7987" y="2005409"/>
            <a:ext cx="1087013" cy="31651"/>
          </a:xfrm>
          <a:prstGeom prst="roundRect">
            <a:avLst>
              <a:gd name="adj" fmla="val 49998"/>
            </a:avLst>
          </a:prstGeom>
          <a:solidFill>
            <a:srgbClr val="454B68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2260997"/>
            <a:ext cx="4348351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Holdout: 3 songs per genre x 6 genres; 30 features, fuzzy membership, Top 5 matching rules per sample.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87" y="2917428"/>
            <a:ext cx="4348351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 trù (3/3):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Energy Very Weak AND Timbre Very Low/Low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87" y="3853259"/>
            <a:ext cx="4348351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Quan họ (3/3):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Energy Strong/Very Strong AND Timbre High/Very High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87" y="4789091"/>
            <a:ext cx="4348351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Cải lương (3/3):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Vibrato Heavy Ornament AND Harmony High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87" y="5724922"/>
            <a:ext cx="434835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C9CCD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Chầu văn (3/3):</a:t>
            </a: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Pitch Very Low AND Harmony High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987" y="6142038"/>
            <a:ext cx="4348351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00E5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Takeaway:</a:t>
            </a:r>
            <a:r>
              <a:rPr lang="en-US" sz="1300" dirty="0">
                <a:solidFill>
                  <a:srgbClr val="00E5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The model learns ethnomusicological archetypes, not sample noise.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61131" y="0"/>
            <a:ext cx="7030564" cy="6858000"/>
          </a:xfrm>
          <a:prstGeom prst="rect">
            <a:avLst/>
          </a:prstGeom>
          <a:solidFill>
            <a:srgbClr val="151829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r="4820" b="2965"/>
          <a:stretch>
            <a:fillRect/>
          </a:stretch>
        </p:blipFill>
        <p:spPr>
          <a:xfrm>
            <a:off x="5181073" y="2037059"/>
            <a:ext cx="6938388" cy="2861511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07987" y="3618309"/>
            <a:ext cx="4348351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4" name="Shape 11"/>
          <p:cNvSpPr/>
          <p:nvPr/>
        </p:nvSpPr>
        <p:spPr>
          <a:xfrm>
            <a:off x="507987" y="4554141"/>
            <a:ext cx="4348351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5" name="Shape 12"/>
          <p:cNvSpPr/>
          <p:nvPr/>
        </p:nvSpPr>
        <p:spPr>
          <a:xfrm>
            <a:off x="507987" y="5489972"/>
            <a:ext cx="4348351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6" name="Text 13"/>
          <p:cNvSpPr/>
          <p:nvPr/>
        </p:nvSpPr>
        <p:spPr>
          <a:xfrm>
            <a:off x="11418800" y="6456561"/>
            <a:ext cx="77289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0" spc="42" dirty="0">
                <a:solidFill>
                  <a:srgbClr val="C9CCD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1126</Words>
  <Application>Microsoft Office PowerPoint</Application>
  <PresentationFormat>Widescreen</PresentationFormat>
  <Paragraphs>100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Geist Light</vt:lpstr>
      <vt:lpstr>Noto Sans</vt:lpstr>
      <vt:lpstr>Consolas</vt:lpstr>
      <vt:lpstr>Geist</vt:lpstr>
      <vt:lpstr>Geist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Dương Trọng Nhân - B2308377</cp:lastModifiedBy>
  <cp:revision>2</cp:revision>
  <dcterms:created xsi:type="dcterms:W3CDTF">2026-09-30T10:20:30Z</dcterms:created>
  <dcterms:modified xsi:type="dcterms:W3CDTF">2026-09-30T10:23:06Z</dcterms:modified>
</cp:coreProperties>
</file>